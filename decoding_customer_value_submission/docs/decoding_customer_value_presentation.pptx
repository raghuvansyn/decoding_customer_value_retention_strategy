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0"/>
  </p:normalViewPr>
  <p:slideViewPr>
    <p:cSldViewPr snapToGrid="0" snapToObjects="1">
      <p:cViewPr varScale="1">
        <p:scale>
          <a:sx n="111" d="100"/>
          <a:sy n="111" d="100"/>
        </p:scale>
        <p:origin x="65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59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members of the Board and the Executive Team. Today, we are presenting the findings of our customer value diagnostic. The core mandate was to determine if our promotional campaigns build genuine, long-term organic customer value, or if they are a margin drain on transactions that would occur anyway. We evaluated 3,900 active customers across all 50 states, representing a $233K transactional base. We will demonstrate that moving from a tenure-only loyalty framework to a composite model allows us to sunset margin-eroding promotions, secure volume, and recover margin without disrupting acquisition.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test the commercial value of promotions, we split our customer database into promo and full-price buyers. Promo buyers (1,677 customers) average 25.74 purchases. Full-price buyers (2,223 customers) average 25.06 purchases. The tenure difference is only 0.68 purchases, and spend sizes are identical. This confirms that discounting does not drive incremental brand loyalty or retention. It is a direct margin erosion on repeat purchases. This baseline metric shows we must identify and isolate promo dependency in our segmentation.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contrast Framework A, which ranks customers solely by purchase counts, with Framework B, our composite model. Framework B incorporates subscription status (30% weight) and discount independence (20% weight) alongside tenure. To defend this methodology, we tested its sensitivity to weighting adjustments. Shifting to a tenure-heavy model moves 9.1% of customers to alternative tiers, and a subscription-heavy model shifts 14.6% of customer tiers. This confirms the baseline weights represent active strategic decisions. There is a minor 0.44% rounding discrepancy due to database rounding, which does not affect strategic insights.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Framework B composite scoring, our customer base segments into: Champions (15.5% / 603 customers), Growth (55.0% / 2,146 customers), and Casual (29.5% / 1,151 customers). Champions are high-tenure, premium shoppers. Growth represents the largest block—our primary pool for lifecycle upgrade. We note a key risk: 56.6% of Champions are promo-dependent. However, because 100% of subscribers are promo-dependent in the dataset, these are subscribers. We cannot cut off their promotions abruptly; instead, we pivot their program benefits to non-monetary value.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audit of demographic features reveals a dataset-specific structural pattern: Females (1,248 customers) have a 0% subscription rate and 0% promotional rate. Males (2,652 customers) have a 39.7% subscription rate and 63.2% promo rate. Because active subscription has a 30% weight, female loyalty scores are capped at 70. Consequently, female customers are structurally underrepresented in the Champion tier. However, because they are 100% organic, full-price buyers, they are our most margin-healthy segment. We must adjust our dashboard filters and campaign rules to prevent introducing discounts to this organic cohort.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classified our geographic markets based on customer count and promotional rate. Organic Pull states (11 states / 965 customers) have high volume and low promo reliance, led by California (95 customers). Discount Pull states (13 states / 1,068 customers) have high volume but are promo-dependent, led by Missouri (95 customers). Underdeveloped states (26 states / 1,867 customers) are low-density. Regional campaigns should invest in premium brand positioning in Organic states, implement promo sunset tests in Discount-Pull states, and seed new customer acquisition organically in Underdeveloped states.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identify a highly specific sunset pool of 198 customers. These are high-tenure, promo-reliant, non-subscribed males. They buy frequently (avg 43.16 purchases) but are margin-eroding. Because they are unsubscribed and promo-reliant, their composite loyalty score is capped at 50, locking them in Growth. Sunsetting promotions for this group shifts $11.6K of transaction value to full price, recovering ~$2.3K in margin per order cycle. The rollout is executed in phases, swapping discounts for free express shipping to protect retention.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target the 246 mid-tenure (avg 24.02 purchases), non-subscribed promo buyers. Since they rely on discounts, removing discounts immediately carries high churn risk. We upsell them to subscription, offering a locked-in 10% discount. This aligns with their discount-friendly behavior. A subscription adds 30 loyalty points to their Framework B score, raising them to 54 (Growth), securing volume, and setting up their transition to Champions as tenure grows.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5-segment retention playbook. Segment 1 represents our sunset pool. Segment 2 represents subscription upsells. Segment 3 is acquisition monitoring. Segment 4 represents subscribers, whose rewards we pivot to logistics value. Crucially, Segment 5 (Organic Customers) contains 2,223 customers purchasing at full price. We establish the Golden Rule: Do not offer promotions to organic customers. They already buy organically, and discounting here results in self-inflicted margin erosion.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follows a structured 4-phase roadmap. Phase 1 (Feature Engineering) and Phase 2 (SQL Analytics) are complete. Phase 3 (Power BI reporting implementation) is also complete. We are now preparing to launch Phase 4: Rollout &amp; A/B testing. We will run a 60-day test on Segment 1 candidates in high-density, promo-dependent states like Missouri and Nevada. Group A will experience the promo sunset + express shipping, while Group B serves as control. We will monitor transaction frequency and satisfaction, then execute a national rollout.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1645920"/>
            <a:ext cx="6217920" cy="4114800"/>
          </a:xfrm>
          <a:prstGeom prst="rect">
            <a:avLst/>
          </a:prstGeom>
          <a:noFill/>
        </p:spPr>
        <p:txBody>
          <a:bodyPr wrap="square">
            <a:spAutoFit/>
          </a:bodyPr>
          <a:lstStyle/>
          <a:p>
            <a:pPr>
              <a:defRPr sz="4400" b="1">
                <a:solidFill>
                  <a:srgbClr val="10B981"/>
                </a:solidFill>
                <a:latin typeface="Segoe UI"/>
              </a:defRPr>
            </a:pPr>
            <a:r>
              <a:t>DECODING CUSTOMER VALUE</a:t>
            </a:r>
          </a:p>
          <a:p>
            <a:pPr>
              <a:defRPr sz="2200" b="1">
                <a:solidFill>
                  <a:srgbClr val="F8FAFC"/>
                </a:solidFill>
                <a:latin typeface="Segoe UI"/>
              </a:defRPr>
            </a:pPr>
            <a:r>
              <a:t>Shifting from Promotional Dependency to Organic Loyalty</a:t>
            </a:r>
          </a:p>
          <a:p>
            <a:br/>
            <a:br/>
            <a:r>
              <a:t>An Empirical Diagnostic of Promotional Basket Impact and Multi-Signal Composite Value Segmentation for D2C Growth.</a:t>
            </a:r>
          </a:p>
          <a:p>
            <a:pPr>
              <a:defRPr sz="1100" b="1">
                <a:solidFill>
                  <a:srgbClr val="3B82F6"/>
                </a:solidFill>
                <a:latin typeface="Segoe UI"/>
              </a:defRPr>
            </a:pPr>
            <a:r>
              <a:t>Prepared for: Executive Leadership Team &amp; Board of Directors | June 2026</a:t>
            </a:r>
          </a:p>
        </p:txBody>
      </p:sp>
      <p:sp>
        <p:nvSpPr>
          <p:cNvPr id="3" name="Rectangle 2"/>
          <p:cNvSpPr/>
          <p:nvPr/>
        </p:nvSpPr>
        <p:spPr>
          <a:xfrm>
            <a:off x="7772400" y="1645920"/>
            <a:ext cx="3474720" cy="118872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0" y="1691640"/>
            <a:ext cx="3474720" cy="1188720"/>
          </a:xfrm>
          <a:prstGeom prst="rect">
            <a:avLst/>
          </a:prstGeom>
          <a:noFill/>
        </p:spPr>
        <p:txBody>
          <a:bodyPr wrap="square">
            <a:spAutoFit/>
          </a:bodyPr>
          <a:lstStyle/>
          <a:p>
            <a:pPr algn="ctr">
              <a:defRPr sz="3800" b="1">
                <a:solidFill>
                  <a:srgbClr val="3B82F6"/>
                </a:solidFill>
                <a:latin typeface="Segoe UI"/>
              </a:defRPr>
            </a:pPr>
            <a:r>
              <a:t>3,900</a:t>
            </a:r>
          </a:p>
          <a:p>
            <a:pPr algn="ctr">
              <a:defRPr sz="1000">
                <a:solidFill>
                  <a:srgbClr val="94A3B8"/>
                </a:solidFill>
                <a:latin typeface="Segoe UI"/>
              </a:defRPr>
            </a:pPr>
            <a:r>
              <a:t>ACTIVE D2C CUSTOMERS</a:t>
            </a:r>
          </a:p>
        </p:txBody>
      </p:sp>
      <p:sp>
        <p:nvSpPr>
          <p:cNvPr id="5" name="Rectangle 4"/>
          <p:cNvSpPr/>
          <p:nvPr/>
        </p:nvSpPr>
        <p:spPr>
          <a:xfrm>
            <a:off x="7772400" y="3108960"/>
            <a:ext cx="3474720" cy="11887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3154680"/>
            <a:ext cx="3474720" cy="1188720"/>
          </a:xfrm>
          <a:prstGeom prst="rect">
            <a:avLst/>
          </a:prstGeom>
          <a:noFill/>
        </p:spPr>
        <p:txBody>
          <a:bodyPr wrap="square">
            <a:spAutoFit/>
          </a:bodyPr>
          <a:lstStyle/>
          <a:p>
            <a:pPr algn="ctr">
              <a:defRPr sz="3800" b="1">
                <a:solidFill>
                  <a:srgbClr val="10B981"/>
                </a:solidFill>
                <a:latin typeface="Segoe UI"/>
              </a:defRPr>
            </a:pPr>
            <a:r>
              <a:t>$233,081</a:t>
            </a:r>
          </a:p>
          <a:p>
            <a:pPr algn="ctr">
              <a:defRPr sz="1000">
                <a:solidFill>
                  <a:srgbClr val="94A3B8"/>
                </a:solidFill>
                <a:latin typeface="Segoe UI"/>
              </a:defRPr>
            </a:pPr>
            <a:r>
              <a:t>TOTAL TRANSACTIONAL BASE</a:t>
            </a:r>
          </a:p>
        </p:txBody>
      </p:sp>
      <p:sp>
        <p:nvSpPr>
          <p:cNvPr id="7" name="Rectangle 6"/>
          <p:cNvSpPr/>
          <p:nvPr/>
        </p:nvSpPr>
        <p:spPr>
          <a:xfrm>
            <a:off x="7772400" y="4572000"/>
            <a:ext cx="3474720" cy="1188720"/>
          </a:xfrm>
          <a:prstGeom prst="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0" y="4617720"/>
            <a:ext cx="3474720" cy="1188720"/>
          </a:xfrm>
          <a:prstGeom prst="rect">
            <a:avLst/>
          </a:prstGeom>
          <a:noFill/>
        </p:spPr>
        <p:txBody>
          <a:bodyPr wrap="square">
            <a:spAutoFit/>
          </a:bodyPr>
          <a:lstStyle/>
          <a:p>
            <a:pPr algn="ctr">
              <a:defRPr sz="3800" b="1">
                <a:solidFill>
                  <a:srgbClr val="F8FAFC"/>
                </a:solidFill>
                <a:latin typeface="Segoe UI"/>
              </a:defRPr>
            </a:pPr>
            <a:r>
              <a:t>50 States</a:t>
            </a:r>
          </a:p>
          <a:p>
            <a:pPr algn="ctr">
              <a:defRPr sz="1000">
                <a:solidFill>
                  <a:srgbClr val="94A3B8"/>
                </a:solidFill>
                <a:latin typeface="Segoe UI"/>
              </a:defRPr>
            </a:pPr>
            <a:r>
              <a:t>GEOGRAPHIC MARKET COVERAGE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The Promo Dilemma: Margin Cost or Loyalty Driver?</a:t>
            </a:r>
          </a:p>
        </p:txBody>
      </p:sp>
      <p:sp>
        <p:nvSpPr>
          <p:cNvPr id="4" name="Rectangle 3"/>
          <p:cNvSpPr/>
          <p:nvPr/>
        </p:nvSpPr>
        <p:spPr>
          <a:xfrm>
            <a:off x="731520" y="1645920"/>
            <a:ext cx="5120640" cy="292608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4754880" cy="2743200"/>
          </a:xfrm>
          <a:prstGeom prst="rect">
            <a:avLst/>
          </a:prstGeom>
          <a:noFill/>
        </p:spPr>
        <p:txBody>
          <a:bodyPr wrap="square">
            <a:spAutoFit/>
          </a:bodyPr>
          <a:lstStyle/>
          <a:p>
            <a:pPr>
              <a:defRPr sz="1300" b="1">
                <a:solidFill>
                  <a:srgbClr val="F43F5E"/>
                </a:solidFill>
              </a:defRPr>
            </a:pPr>
            <a:r>
              <a:t>PROMOTIONAL BUYER COHORT</a:t>
            </a:r>
          </a:p>
          <a:p>
            <a:br/>
            <a:r>
              <a:t>• Cohort Size: 1,677 Customers (43% of base)</a:t>
            </a:r>
          </a:p>
          <a:p>
            <a:pPr>
              <a:defRPr sz="1400">
                <a:solidFill>
                  <a:srgbClr val="F8FAFC"/>
                </a:solidFill>
              </a:defRPr>
            </a:pPr>
            <a:r>
              <a:t>• Average Previous Purchases: 25.74</a:t>
            </a:r>
          </a:p>
          <a:p>
            <a:pPr>
              <a:defRPr sz="1400">
                <a:solidFill>
                  <a:srgbClr val="F8FAFC"/>
                </a:solidFill>
              </a:defRPr>
            </a:pPr>
            <a:r>
              <a:t>• Average Spend per Order: $59.28</a:t>
            </a:r>
          </a:p>
          <a:p>
            <a:pPr>
              <a:defRPr sz="1200">
                <a:solidFill>
                  <a:srgbClr val="94A3B8"/>
                </a:solidFill>
              </a:defRPr>
            </a:pPr>
            <a:r>
              <a:t>• Strategic Affiliation: Transactional discount-seekers.</a:t>
            </a:r>
          </a:p>
        </p:txBody>
      </p:sp>
      <p:sp>
        <p:nvSpPr>
          <p:cNvPr id="6" name="Rectangle 5"/>
          <p:cNvSpPr/>
          <p:nvPr/>
        </p:nvSpPr>
        <p:spPr>
          <a:xfrm>
            <a:off x="6217920" y="1645920"/>
            <a:ext cx="5120640" cy="292608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737360"/>
            <a:ext cx="4754880" cy="2743200"/>
          </a:xfrm>
          <a:prstGeom prst="rect">
            <a:avLst/>
          </a:prstGeom>
          <a:noFill/>
        </p:spPr>
        <p:txBody>
          <a:bodyPr wrap="square">
            <a:spAutoFit/>
          </a:bodyPr>
          <a:lstStyle/>
          <a:p>
            <a:pPr>
              <a:defRPr sz="1300" b="1">
                <a:solidFill>
                  <a:srgbClr val="10B981"/>
                </a:solidFill>
              </a:defRPr>
            </a:pPr>
            <a:r>
              <a:t>FULL-PRICE ORGANIC COHORT</a:t>
            </a:r>
          </a:p>
          <a:p>
            <a:br/>
            <a:r>
              <a:t>• Cohort Size: 2,223 Customers (57% of base)</a:t>
            </a:r>
          </a:p>
          <a:p>
            <a:pPr>
              <a:defRPr sz="1400">
                <a:solidFill>
                  <a:srgbClr val="F8FAFC"/>
                </a:solidFill>
              </a:defRPr>
            </a:pPr>
            <a:r>
              <a:t>• Average Previous Purchases: 25.06</a:t>
            </a:r>
          </a:p>
          <a:p>
            <a:pPr>
              <a:defRPr sz="1400">
                <a:solidFill>
                  <a:srgbClr val="F8FAFC"/>
                </a:solidFill>
              </a:defRPr>
            </a:pPr>
            <a:r>
              <a:t>• Average Spend per Order: $60.13</a:t>
            </a:r>
          </a:p>
          <a:p>
            <a:pPr>
              <a:defRPr sz="1200">
                <a:solidFill>
                  <a:srgbClr val="94A3B8"/>
                </a:solidFill>
              </a:defRPr>
            </a:pPr>
            <a:r>
              <a:t>• Strategic Affiliation: Intrinsic organic brand loyalty.</a:t>
            </a:r>
          </a:p>
        </p:txBody>
      </p:sp>
      <p:sp>
        <p:nvSpPr>
          <p:cNvPr id="8" name="TextBox 7"/>
          <p:cNvSpPr txBox="1"/>
          <p:nvPr/>
        </p:nvSpPr>
        <p:spPr>
          <a:xfrm>
            <a:off x="731520" y="4846320"/>
            <a:ext cx="10725912" cy="1097280"/>
          </a:xfrm>
          <a:prstGeom prst="rect">
            <a:avLst/>
          </a:prstGeom>
          <a:noFill/>
        </p:spPr>
        <p:txBody>
          <a:bodyPr wrap="square">
            <a:spAutoFit/>
          </a:bodyPr>
          <a:lstStyle/>
          <a:p>
            <a:pPr>
              <a:defRPr sz="1300" b="1">
                <a:solidFill>
                  <a:srgbClr val="F59E0B"/>
                </a:solidFill>
              </a:defRPr>
            </a:pPr>
            <a:r>
              <a:t>KEY EMPIRICAL VERDICT &amp; ANALYSIS</a:t>
            </a:r>
          </a:p>
          <a:p>
            <a:pPr>
              <a:defRPr sz="1400">
                <a:solidFill>
                  <a:srgbClr val="F8FAFC"/>
                </a:solidFill>
              </a:defRPr>
            </a:pPr>
            <a:r>
              <a:t>There is no evidence that promotions increase customer tenure or spend size. The average previous purchases difference is a negligible 0.68 purchases (2.7% variance), while order spend sizes remain identical. The current promotional structure represents a direct margin erosion, subsidizing purchases that customers would have made anyway.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Redefining Loyalty: Moving Beyond Purchase Volume</a:t>
            </a:r>
          </a:p>
        </p:txBody>
      </p:sp>
      <p:sp>
        <p:nvSpPr>
          <p:cNvPr id="4" name="Rectangle 3"/>
          <p:cNvSpPr/>
          <p:nvPr/>
        </p:nvSpPr>
        <p:spPr>
          <a:xfrm>
            <a:off x="731520" y="1645920"/>
            <a:ext cx="3328416" cy="4114800"/>
          </a:xfrm>
          <a:prstGeom prst="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37360"/>
            <a:ext cx="3145536" cy="3931920"/>
          </a:xfrm>
          <a:prstGeom prst="rect">
            <a:avLst/>
          </a:prstGeom>
          <a:noFill/>
        </p:spPr>
        <p:txBody>
          <a:bodyPr wrap="square">
            <a:spAutoFit/>
          </a:bodyPr>
          <a:lstStyle/>
          <a:p>
            <a:pPr>
              <a:defRPr sz="1300" b="1">
                <a:solidFill>
                  <a:srgbClr val="94A3B8"/>
                </a:solidFill>
              </a:defRPr>
            </a:pPr>
            <a:r>
              <a:t>FRAMEWORK A (BASELINE)</a:t>
            </a:r>
          </a:p>
          <a:p>
            <a:br/>
            <a:r>
              <a:t>• Signal: Tenure-Only</a:t>
            </a:r>
            <a:br/>
            <a:r>
              <a:t>• Metric: Previous purchases</a:t>
            </a:r>
            <a:br/>
            <a:r>
              <a:t>• Thresholds: Percentile-based split (Top 25% High, 50% Med, 25% Low)</a:t>
            </a:r>
            <a:br/>
            <a:r>
              <a:t>• Strategic Blindspot: Ignores margin health. Treats a high-tenure discount seeker exactly the same as a full-price subscriber.</a:t>
            </a:r>
          </a:p>
        </p:txBody>
      </p:sp>
      <p:sp>
        <p:nvSpPr>
          <p:cNvPr id="6" name="Rectangle 5"/>
          <p:cNvSpPr/>
          <p:nvPr/>
        </p:nvSpPr>
        <p:spPr>
          <a:xfrm>
            <a:off x="4425696" y="1645920"/>
            <a:ext cx="3328416" cy="4114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17136" y="1737360"/>
            <a:ext cx="3145536" cy="3931920"/>
          </a:xfrm>
          <a:prstGeom prst="rect">
            <a:avLst/>
          </a:prstGeom>
          <a:noFill/>
        </p:spPr>
        <p:txBody>
          <a:bodyPr wrap="square">
            <a:spAutoFit/>
          </a:bodyPr>
          <a:lstStyle/>
          <a:p>
            <a:pPr>
              <a:defRPr sz="1300" b="1">
                <a:solidFill>
                  <a:srgbClr val="10B981"/>
                </a:solidFill>
              </a:defRPr>
            </a:pPr>
            <a:r>
              <a:t>FRAMEWORK B (PRIMARY COMPOSITE)</a:t>
            </a:r>
          </a:p>
          <a:p>
            <a:br/>
            <a:r>
              <a:t>• Signal: Weighted Composite</a:t>
            </a:r>
            <a:br/>
            <a:r>
              <a:t>• Formula weights:</a:t>
            </a:r>
            <a:br/>
            <a:r>
              <a:t>  - 50% Customer Tenure</a:t>
            </a:r>
            <a:br/>
            <a:r>
              <a:t>  - 30% Subscription Flag</a:t>
            </a:r>
            <a:br/>
            <a:r>
              <a:t>  - 20% Discount Independence</a:t>
            </a:r>
            <a:br/>
            <a:r>
              <a:t>• Strategic Rationale: Rewards brand commitment and margin-healthy organic shopping behaviors.</a:t>
            </a:r>
          </a:p>
        </p:txBody>
      </p:sp>
      <p:sp>
        <p:nvSpPr>
          <p:cNvPr id="8" name="Rectangle 7"/>
          <p:cNvSpPr/>
          <p:nvPr/>
        </p:nvSpPr>
        <p:spPr>
          <a:xfrm>
            <a:off x="8119872" y="1645920"/>
            <a:ext cx="3328416" cy="4114800"/>
          </a:xfrm>
          <a:prstGeom prst="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737360"/>
            <a:ext cx="3145536" cy="3931920"/>
          </a:xfrm>
          <a:prstGeom prst="rect">
            <a:avLst/>
          </a:prstGeom>
          <a:noFill/>
        </p:spPr>
        <p:txBody>
          <a:bodyPr wrap="square">
            <a:spAutoFit/>
          </a:bodyPr>
          <a:lstStyle/>
          <a:p>
            <a:pPr>
              <a:defRPr sz="1300" b="1">
                <a:solidFill>
                  <a:srgbClr val="F59E0B"/>
                </a:solidFill>
              </a:defRPr>
            </a:pPr>
            <a:r>
              <a:t>WEIGHT SENSITIVITY TESTING</a:t>
            </a:r>
          </a:p>
          <a:p>
            <a:br/>
            <a:r>
              <a:t>• Testing Shift Response:</a:t>
            </a:r>
            <a:br/>
            <a:r>
              <a:t>  - 9.1% shift in customer tier assignments under a tenure-heavy model (60/25/15)</a:t>
            </a:r>
            <a:br/>
            <a:r>
              <a:t>  - 14.6% shift under a subscription-heavy model (40/35/25)</a:t>
            </a:r>
            <a:br/>
            <a:r>
              <a:t>• Conclusion: Baseline weights (50/30/20) represent intentional strategic design choices, not interchangeable defaults.</a:t>
            </a:r>
          </a:p>
        </p:txBody>
      </p:sp>
      <p:sp>
        <p:nvSpPr>
          <p:cNvPr id="10" name="TextBox 9"/>
          <p:cNvSpPr txBox="1"/>
          <p:nvPr/>
        </p:nvSpPr>
        <p:spPr>
          <a:xfrm>
            <a:off x="731520" y="5943600"/>
            <a:ext cx="10725912" cy="548640"/>
          </a:xfrm>
          <a:prstGeom prst="rect">
            <a:avLst/>
          </a:prstGeom>
          <a:noFill/>
        </p:spPr>
        <p:txBody>
          <a:bodyPr wrap="square">
            <a:spAutoFit/>
          </a:bodyPr>
          <a:lstStyle/>
          <a:p>
            <a:pPr>
              <a:defRPr sz="1000">
                <a:solidFill>
                  <a:srgbClr val="94A3B8"/>
                </a:solidFill>
              </a:defRPr>
            </a:pPr>
            <a:r>
              <a:t>Methodology Note: loyalty_score_b is rounded to two decimal places before tier assignment in the database pipeline, while sensitivity testing evaluates raw floating-point scores. This creates a minor baseline discrepancy (0.44% of customers) with zero material impact on strategic findings.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Customer Value Pyramid: Tier Distribution</a:t>
            </a:r>
          </a:p>
        </p:txBody>
      </p:sp>
      <p:sp>
        <p:nvSpPr>
          <p:cNvPr id="4" name="Rectangle 3"/>
          <p:cNvSpPr/>
          <p:nvPr/>
        </p:nvSpPr>
        <p:spPr>
          <a:xfrm>
            <a:off x="731520" y="1645920"/>
            <a:ext cx="3328416" cy="384048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37360"/>
            <a:ext cx="3145536" cy="3657600"/>
          </a:xfrm>
          <a:prstGeom prst="rect">
            <a:avLst/>
          </a:prstGeom>
          <a:noFill/>
        </p:spPr>
        <p:txBody>
          <a:bodyPr wrap="square">
            <a:spAutoFit/>
          </a:bodyPr>
          <a:lstStyle/>
          <a:p>
            <a:pPr>
              <a:defRPr sz="1400" b="1">
                <a:solidFill>
                  <a:srgbClr val="10B981"/>
                </a:solidFill>
              </a:defRPr>
            </a:pPr>
            <a:r>
              <a:t>CHAMPION SEGMENT</a:t>
            </a:r>
          </a:p>
          <a:p>
            <a:br/>
            <a:r>
              <a:t>603 Customers</a:t>
            </a:r>
            <a:br/>
            <a:r>
              <a:t>15.5% of Customer Base</a:t>
            </a:r>
          </a:p>
          <a:p>
            <a:br/>
            <a:r>
              <a:t>• Description: High-tenure subscribers and premium full-price shoppers.</a:t>
            </a:r>
            <a:br/>
            <a:r>
              <a:t>• Strategic Mandate: Protect margins, reward with non-monetary value, and profile for ICP marketing.</a:t>
            </a:r>
          </a:p>
        </p:txBody>
      </p:sp>
      <p:sp>
        <p:nvSpPr>
          <p:cNvPr id="6" name="Rectangle 5"/>
          <p:cNvSpPr/>
          <p:nvPr/>
        </p:nvSpPr>
        <p:spPr>
          <a:xfrm>
            <a:off x="4425696" y="1645920"/>
            <a:ext cx="3328416" cy="384048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17136" y="1737360"/>
            <a:ext cx="3145536" cy="3657600"/>
          </a:xfrm>
          <a:prstGeom prst="rect">
            <a:avLst/>
          </a:prstGeom>
          <a:noFill/>
        </p:spPr>
        <p:txBody>
          <a:bodyPr wrap="square">
            <a:spAutoFit/>
          </a:bodyPr>
          <a:lstStyle/>
          <a:p>
            <a:pPr>
              <a:defRPr sz="1400" b="1">
                <a:solidFill>
                  <a:srgbClr val="3B82F6"/>
                </a:solidFill>
              </a:defRPr>
            </a:pPr>
            <a:r>
              <a:t>GROWTH SEGMENT</a:t>
            </a:r>
          </a:p>
          <a:p>
            <a:br/>
            <a:r>
              <a:t>2,146 Customers</a:t>
            </a:r>
            <a:br/>
            <a:r>
              <a:t>55.0% of Customer Base</a:t>
            </a:r>
          </a:p>
          <a:p>
            <a:br/>
            <a:r>
              <a:t>• Description: Mid-tenure cohort representing mixed commitment and coupon usage.</a:t>
            </a:r>
            <a:br/>
            <a:r>
              <a:t>• Strategic Mandate: Funnel to subscription upsells and execute structured promotional reductions.</a:t>
            </a:r>
          </a:p>
        </p:txBody>
      </p:sp>
      <p:sp>
        <p:nvSpPr>
          <p:cNvPr id="8" name="Rectangle 7"/>
          <p:cNvSpPr/>
          <p:nvPr/>
        </p:nvSpPr>
        <p:spPr>
          <a:xfrm>
            <a:off x="8119872" y="1645920"/>
            <a:ext cx="3328416" cy="384048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737360"/>
            <a:ext cx="3145536" cy="3657600"/>
          </a:xfrm>
          <a:prstGeom prst="rect">
            <a:avLst/>
          </a:prstGeom>
          <a:noFill/>
        </p:spPr>
        <p:txBody>
          <a:bodyPr wrap="square">
            <a:spAutoFit/>
          </a:bodyPr>
          <a:lstStyle/>
          <a:p>
            <a:pPr>
              <a:defRPr sz="1400" b="1">
                <a:solidFill>
                  <a:srgbClr val="F43F5E"/>
                </a:solidFill>
              </a:defRPr>
            </a:pPr>
            <a:r>
              <a:t>CASUAL SEGMENT</a:t>
            </a:r>
          </a:p>
          <a:p>
            <a:br/>
            <a:r>
              <a:t>1,151 Customers</a:t>
            </a:r>
            <a:br/>
            <a:r>
              <a:t>29.5% of Customer Base</a:t>
            </a:r>
          </a:p>
          <a:p>
            <a:br/>
            <a:r>
              <a:t>• Description: Low-tenure or highly discount-dependent transactional buyers.</a:t>
            </a:r>
            <a:br/>
            <a:r>
              <a:t>• Strategic Mandate: Minimize retention spend, optimize acquisition channels for organic interest.</a:t>
            </a:r>
          </a:p>
        </p:txBody>
      </p:sp>
      <p:sp>
        <p:nvSpPr>
          <p:cNvPr id="10" name="TextBox 9"/>
          <p:cNvSpPr txBox="1"/>
          <p:nvPr/>
        </p:nvSpPr>
        <p:spPr>
          <a:xfrm>
            <a:off x="731520" y="5577840"/>
            <a:ext cx="10725912" cy="731520"/>
          </a:xfrm>
          <a:prstGeom prst="rect">
            <a:avLst/>
          </a:prstGeom>
          <a:noFill/>
        </p:spPr>
        <p:txBody>
          <a:bodyPr wrap="square">
            <a:spAutoFit/>
          </a:bodyPr>
          <a:lstStyle/>
          <a:p>
            <a:pPr>
              <a:defRPr sz="1100" b="1">
                <a:solidFill>
                  <a:srgbClr val="F59E0B"/>
                </a:solidFill>
              </a:defRPr>
            </a:pPr>
            <a:r>
              <a:t>CRITICAL OBSERVATION: Over half (56.6%) of Champions rely on promotions. Because active subscription is structurally linked with discount usage in this database, we must transition them to logistics value (express shipping) rather than generic discounts to protect subscriber retention.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Structural Constraints: The Gender &amp; Program Anomaly</a:t>
            </a:r>
          </a:p>
        </p:txBody>
      </p:sp>
      <p:sp>
        <p:nvSpPr>
          <p:cNvPr id="4" name="Rectangle 3"/>
          <p:cNvSpPr/>
          <p:nvPr/>
        </p:nvSpPr>
        <p:spPr>
          <a:xfrm>
            <a:off x="731520" y="1645920"/>
            <a:ext cx="5120640" cy="274320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4754880" cy="2560320"/>
          </a:xfrm>
          <a:prstGeom prst="rect">
            <a:avLst/>
          </a:prstGeom>
          <a:noFill/>
        </p:spPr>
        <p:txBody>
          <a:bodyPr wrap="square">
            <a:spAutoFit/>
          </a:bodyPr>
          <a:lstStyle/>
          <a:p>
            <a:pPr>
              <a:defRPr sz="1300" b="1">
                <a:solidFill>
                  <a:srgbClr val="3B82F6"/>
                </a:solidFill>
              </a:defRPr>
            </a:pPr>
            <a:r>
              <a:t>MALE COHORT DIAGNOSTIC</a:t>
            </a:r>
          </a:p>
          <a:p>
            <a:br/>
            <a:r>
              <a:t>• Count: 2,652 Customers (68% of base)</a:t>
            </a:r>
            <a:br/>
            <a:r>
              <a:t>• Subscription rate: 39.7% (All subscribers are Male)</a:t>
            </a:r>
            <a:br/>
            <a:r>
              <a:t>• Promotional rate: 63.2% (All promo buyers are Male)</a:t>
            </a:r>
            <a:br/>
            <a:r>
              <a:t>• Segmentation result: Dominate the Champion tier (84.5% Male).</a:t>
            </a:r>
          </a:p>
        </p:txBody>
      </p:sp>
      <p:sp>
        <p:nvSpPr>
          <p:cNvPr id="6" name="Rectangle 5"/>
          <p:cNvSpPr/>
          <p:nvPr/>
        </p:nvSpPr>
        <p:spPr>
          <a:xfrm>
            <a:off x="6217920" y="1645920"/>
            <a:ext cx="5120640" cy="27432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737360"/>
            <a:ext cx="4754880" cy="2560320"/>
          </a:xfrm>
          <a:prstGeom prst="rect">
            <a:avLst/>
          </a:prstGeom>
          <a:noFill/>
        </p:spPr>
        <p:txBody>
          <a:bodyPr wrap="square">
            <a:spAutoFit/>
          </a:bodyPr>
          <a:lstStyle/>
          <a:p>
            <a:pPr>
              <a:defRPr sz="1300" b="1">
                <a:solidFill>
                  <a:srgbClr val="10B981"/>
                </a:solidFill>
              </a:defRPr>
            </a:pPr>
            <a:r>
              <a:t>FEMALE COHORT DIAGNOSTIC</a:t>
            </a:r>
          </a:p>
          <a:p>
            <a:br/>
            <a:r>
              <a:t>• Count: 1,248 Customers (32% of base)</a:t>
            </a:r>
            <a:br/>
            <a:r>
              <a:t>• Subscription rate: 0.0% (Non-subscribed)</a:t>
            </a:r>
            <a:br/>
            <a:r>
              <a:t>• Promotional rate: 0.0% (100% full-price organic)</a:t>
            </a:r>
            <a:br/>
            <a:r>
              <a:t>• Segmentation result: Structurally capped at a max loyalty score of 70.</a:t>
            </a:r>
          </a:p>
        </p:txBody>
      </p:sp>
      <p:sp>
        <p:nvSpPr>
          <p:cNvPr id="8" name="TextBox 7"/>
          <p:cNvSpPr txBox="1"/>
          <p:nvPr/>
        </p:nvSpPr>
        <p:spPr>
          <a:xfrm>
            <a:off x="731520" y="4572000"/>
            <a:ext cx="10725912" cy="1645920"/>
          </a:xfrm>
          <a:prstGeom prst="rect">
            <a:avLst/>
          </a:prstGeom>
          <a:noFill/>
        </p:spPr>
        <p:txBody>
          <a:bodyPr wrap="square">
            <a:spAutoFit/>
          </a:bodyPr>
          <a:lstStyle/>
          <a:p>
            <a:pPr>
              <a:defRPr sz="1300" b="1">
                <a:solidFill>
                  <a:srgbClr val="F59E0B"/>
                </a:solidFill>
              </a:defRPr>
            </a:pPr>
            <a:r>
              <a:t>DATASET-SPECIFIC STRUCTURAL PATTERN &amp; BUSINESS IMPACT</a:t>
            </a:r>
          </a:p>
          <a:p>
            <a:pPr>
              <a:defRPr sz="1300">
                <a:solidFill>
                  <a:srgbClr val="F8FAFC"/>
                </a:solidFill>
              </a:defRPr>
            </a:pPr>
            <a:r>
              <a:t>The database contains a strict synthetic binary logic: Females are 100% full-price organic buyers and 0% subscribed. Under Framework B, because Females cannot receive subscription points, their scores are capped at 70, underrepresenting them as Champions (11.3% of Females vs 17.4% of Males). Strategic response: We must insulate this high-value, full-price Female cohort from generic promotional messaging to protect their organic baseline behavior.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Geographic Opportunities: Market Classification</a:t>
            </a:r>
          </a:p>
        </p:txBody>
      </p:sp>
      <p:sp>
        <p:nvSpPr>
          <p:cNvPr id="4" name="Rectangle 3"/>
          <p:cNvSpPr/>
          <p:nvPr/>
        </p:nvSpPr>
        <p:spPr>
          <a:xfrm>
            <a:off x="731520" y="1645920"/>
            <a:ext cx="3328416" cy="4114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37360"/>
            <a:ext cx="3145536" cy="3931920"/>
          </a:xfrm>
          <a:prstGeom prst="rect">
            <a:avLst/>
          </a:prstGeom>
          <a:noFill/>
        </p:spPr>
        <p:txBody>
          <a:bodyPr wrap="square">
            <a:spAutoFit/>
          </a:bodyPr>
          <a:lstStyle/>
          <a:p>
            <a:pPr>
              <a:defRPr sz="1300" b="1">
                <a:solidFill>
                  <a:srgbClr val="10B981"/>
                </a:solidFill>
              </a:defRPr>
            </a:pPr>
            <a:r>
              <a:t>ORGANIC PULL STATES</a:t>
            </a:r>
          </a:p>
          <a:p>
            <a:br/>
            <a:r>
              <a:t>11 States</a:t>
            </a:r>
            <a:br/>
            <a:r>
              <a:t>965 Customers</a:t>
            </a:r>
          </a:p>
          <a:p>
            <a:br/>
            <a:r>
              <a:t>• Focus: High customer volume, below-average discount rates.</a:t>
            </a:r>
            <a:br/>
            <a:r>
              <a:t>• Key Representative: California (95 customers).</a:t>
            </a:r>
            <a:br/>
            <a:r>
              <a:t>• Action: Scale brand presence without discounts; focus on premium merchandising.</a:t>
            </a:r>
          </a:p>
        </p:txBody>
      </p:sp>
      <p:sp>
        <p:nvSpPr>
          <p:cNvPr id="6" name="Rectangle 5"/>
          <p:cNvSpPr/>
          <p:nvPr/>
        </p:nvSpPr>
        <p:spPr>
          <a:xfrm>
            <a:off x="4425696" y="1645920"/>
            <a:ext cx="3328416" cy="411480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17136" y="1737360"/>
            <a:ext cx="3145536" cy="3931920"/>
          </a:xfrm>
          <a:prstGeom prst="rect">
            <a:avLst/>
          </a:prstGeom>
          <a:noFill/>
        </p:spPr>
        <p:txBody>
          <a:bodyPr wrap="square">
            <a:spAutoFit/>
          </a:bodyPr>
          <a:lstStyle/>
          <a:p>
            <a:pPr>
              <a:defRPr sz="1300" b="1">
                <a:solidFill>
                  <a:srgbClr val="F43F5E"/>
                </a:solidFill>
              </a:defRPr>
            </a:pPr>
            <a:r>
              <a:t>DISCOUNT PULL STATES</a:t>
            </a:r>
          </a:p>
          <a:p>
            <a:br/>
            <a:r>
              <a:t>13 States</a:t>
            </a:r>
            <a:br/>
            <a:r>
              <a:t>1,068 Customers</a:t>
            </a:r>
          </a:p>
          <a:p>
            <a:br/>
            <a:r>
              <a:t>• Focus: High customer volume, above-average discount rates.</a:t>
            </a:r>
            <a:br/>
            <a:r>
              <a:t>• Key Representative: Missouri (95 customers).</a:t>
            </a:r>
            <a:br/>
            <a:r>
              <a:t>• Action: Prime regions for promotional sunsetting A/B tests.</a:t>
            </a:r>
          </a:p>
        </p:txBody>
      </p:sp>
      <p:sp>
        <p:nvSpPr>
          <p:cNvPr id="8" name="Rectangle 7"/>
          <p:cNvSpPr/>
          <p:nvPr/>
        </p:nvSpPr>
        <p:spPr>
          <a:xfrm>
            <a:off x="8119872" y="1645920"/>
            <a:ext cx="3328416" cy="4114800"/>
          </a:xfrm>
          <a:prstGeom prst="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737360"/>
            <a:ext cx="3145536" cy="3931920"/>
          </a:xfrm>
          <a:prstGeom prst="rect">
            <a:avLst/>
          </a:prstGeom>
          <a:noFill/>
        </p:spPr>
        <p:txBody>
          <a:bodyPr wrap="square">
            <a:spAutoFit/>
          </a:bodyPr>
          <a:lstStyle/>
          <a:p>
            <a:pPr>
              <a:defRPr sz="1300" b="1">
                <a:solidFill>
                  <a:srgbClr val="94A3B8"/>
                </a:solidFill>
              </a:defRPr>
            </a:pPr>
            <a:r>
              <a:t>UNDERDEVELOPED STATES</a:t>
            </a:r>
          </a:p>
          <a:p>
            <a:br/>
            <a:r>
              <a:t>26 States</a:t>
            </a:r>
            <a:br/>
            <a:r>
              <a:t>1,867 Customers</a:t>
            </a:r>
          </a:p>
          <a:p>
            <a:br/>
            <a:r>
              <a:t>• Focus: Low-volume states representing fragmented market share.</a:t>
            </a:r>
            <a:br/>
            <a:r>
              <a:t>• Action: Launch organic marketing to build a healthy, full-price customer baseline from first purchase.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Phased Promotion Sunset: Sunset Pool Candidate Profile</a:t>
            </a:r>
          </a:p>
        </p:txBody>
      </p:sp>
      <p:sp>
        <p:nvSpPr>
          <p:cNvPr id="4" name="Rectangle 3"/>
          <p:cNvSpPr/>
          <p:nvPr/>
        </p:nvSpPr>
        <p:spPr>
          <a:xfrm>
            <a:off x="731520" y="1645920"/>
            <a:ext cx="10725912" cy="1645920"/>
          </a:xfrm>
          <a:prstGeom prst="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10360152" cy="1463040"/>
          </a:xfrm>
          <a:prstGeom prst="rect">
            <a:avLst/>
          </a:prstGeom>
          <a:noFill/>
        </p:spPr>
        <p:txBody>
          <a:bodyPr wrap="square">
            <a:spAutoFit/>
          </a:bodyPr>
          <a:lstStyle/>
          <a:p>
            <a:pPr>
              <a:defRPr sz="1400" b="1">
                <a:solidFill>
                  <a:srgbClr val="F59E0B"/>
                </a:solidFill>
              </a:defRPr>
            </a:pPr>
            <a:r>
              <a:t>TARGET COHORT: 198 CANDIDATES</a:t>
            </a:r>
          </a:p>
          <a:p>
            <a:pPr>
              <a:defRPr sz="2000" b="1">
                <a:solidFill>
                  <a:srgbClr val="F8FAFC"/>
                </a:solidFill>
              </a:defRPr>
            </a:pPr>
            <a:r>
              <a:t>Estimated Transaction Value Shifted to Full Price: $11.6K</a:t>
            </a:r>
            <a:br/>
            <a:r>
              <a:t>Estimated Margin Recovery: ~$2.3K Per Order Cycle (assuming 20% discount)</a:t>
            </a:r>
          </a:p>
        </p:txBody>
      </p:sp>
      <p:sp>
        <p:nvSpPr>
          <p:cNvPr id="6" name="TextBox 5"/>
          <p:cNvSpPr txBox="1"/>
          <p:nvPr/>
        </p:nvSpPr>
        <p:spPr>
          <a:xfrm>
            <a:off x="731520" y="3657600"/>
            <a:ext cx="5120640" cy="2560320"/>
          </a:xfrm>
          <a:prstGeom prst="rect">
            <a:avLst/>
          </a:prstGeom>
          <a:noFill/>
        </p:spPr>
        <p:txBody>
          <a:bodyPr wrap="square">
            <a:spAutoFit/>
          </a:bodyPr>
          <a:lstStyle/>
          <a:p>
            <a:pPr>
              <a:defRPr sz="1300" b="1">
                <a:solidFill>
                  <a:srgbClr val="3B82F6"/>
                </a:solidFill>
              </a:defRPr>
            </a:pPr>
            <a:r>
              <a:t>CANDIDATE COHORT PROFILE</a:t>
            </a:r>
          </a:p>
          <a:p>
            <a:br/>
            <a:r>
              <a:t>• Criteria: non-subscribed, promo-reliant, tenure &gt;= 35.</a:t>
            </a:r>
            <a:br/>
            <a:r>
              <a:t>• Cohort Size: 198 Customers (all Male in database).</a:t>
            </a:r>
            <a:br/>
            <a:r>
              <a:t>• Average purchases: 43.16 | Average spend: $58.58.</a:t>
            </a:r>
            <a:br/>
            <a:r>
              <a:t>• Mathematical Anomaly: Because they use discounts and are unsubscribed, their loyalty score is capped at 50 (locked in Growth tier).</a:t>
            </a:r>
          </a:p>
        </p:txBody>
      </p:sp>
      <p:sp>
        <p:nvSpPr>
          <p:cNvPr id="7" name="TextBox 6"/>
          <p:cNvSpPr txBox="1"/>
          <p:nvPr/>
        </p:nvSpPr>
        <p:spPr>
          <a:xfrm>
            <a:off x="6217920" y="3657600"/>
            <a:ext cx="5120640" cy="2560320"/>
          </a:xfrm>
          <a:prstGeom prst="rect">
            <a:avLst/>
          </a:prstGeom>
          <a:noFill/>
        </p:spPr>
        <p:txBody>
          <a:bodyPr wrap="square">
            <a:spAutoFit/>
          </a:bodyPr>
          <a:lstStyle/>
          <a:p>
            <a:pPr>
              <a:defRPr sz="1300" b="1">
                <a:solidFill>
                  <a:srgbClr val="10B981"/>
                </a:solidFill>
              </a:defRPr>
            </a:pPr>
            <a:r>
              <a:t>90-DAY SUNSET OPERATIONS</a:t>
            </a:r>
          </a:p>
          <a:p>
            <a:br/>
            <a:r>
              <a:t>• Days 1–30: Pivot email messaging away from coupons to new styles.</a:t>
            </a:r>
            <a:br/>
            <a:r>
              <a:t>• Days 31–60: Restrict generic promo entry; raise order minimum to $80 for discount eligibility (avg basket is $58.58).</a:t>
            </a:r>
            <a:br/>
            <a:r>
              <a:t>• Days 61–90: Full discount sunset; replace discounts with Free Express Shipping to mitigate churn risk.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Upsell Strategy: Subscription Conversion Pipeline</a:t>
            </a:r>
          </a:p>
        </p:txBody>
      </p:sp>
      <p:sp>
        <p:nvSpPr>
          <p:cNvPr id="4" name="Rectangle 3"/>
          <p:cNvSpPr/>
          <p:nvPr/>
        </p:nvSpPr>
        <p:spPr>
          <a:xfrm>
            <a:off x="731520" y="1645920"/>
            <a:ext cx="10725912" cy="164592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10360152" cy="1463040"/>
          </a:xfrm>
          <a:prstGeom prst="rect">
            <a:avLst/>
          </a:prstGeom>
          <a:noFill/>
        </p:spPr>
        <p:txBody>
          <a:bodyPr wrap="square">
            <a:spAutoFit/>
          </a:bodyPr>
          <a:lstStyle/>
          <a:p>
            <a:pPr>
              <a:defRPr sz="1400" b="1">
                <a:solidFill>
                  <a:srgbClr val="F8FAFC"/>
                </a:solidFill>
              </a:defRPr>
            </a:pPr>
            <a:r>
              <a:t>TARGET COHORT: 246 UPSELL TARGETS</a:t>
            </a:r>
          </a:p>
          <a:p>
            <a:pPr>
              <a:defRPr sz="2000" b="1">
                <a:solidFill>
                  <a:srgbClr val="F8FAFC"/>
                </a:solidFill>
              </a:defRPr>
            </a:pPr>
            <a:r>
              <a:t>246 Mid-Tenure, Non-Subscribed Promo Buyers</a:t>
            </a:r>
            <a:br/>
            <a:r>
              <a:t>Average Purchases: 24.02 | Average Spend: $59.26</a:t>
            </a:r>
          </a:p>
        </p:txBody>
      </p:sp>
      <p:sp>
        <p:nvSpPr>
          <p:cNvPr id="6" name="TextBox 5"/>
          <p:cNvSpPr txBox="1"/>
          <p:nvPr/>
        </p:nvSpPr>
        <p:spPr>
          <a:xfrm>
            <a:off x="731520" y="3657600"/>
            <a:ext cx="5120640" cy="2560320"/>
          </a:xfrm>
          <a:prstGeom prst="rect">
            <a:avLst/>
          </a:prstGeom>
          <a:noFill/>
        </p:spPr>
        <p:txBody>
          <a:bodyPr wrap="square">
            <a:spAutoFit/>
          </a:bodyPr>
          <a:lstStyle/>
          <a:p>
            <a:pPr>
              <a:defRPr sz="1300" b="1">
                <a:solidFill>
                  <a:srgbClr val="F59E0B"/>
                </a:solidFill>
              </a:defRPr>
            </a:pPr>
            <a:r>
              <a:t>STRATEGIC RATIONALE</a:t>
            </a:r>
          </a:p>
          <a:p>
            <a:br/>
            <a:r>
              <a:t>• Cohort lifecycle: Mid-tenure (avg 24.02 purchases) discount seekers.</a:t>
            </a:r>
            <a:br/>
            <a:r>
              <a:t>• Objective: Convert to subscription before adjusting discount access.</a:t>
            </a:r>
            <a:br/>
            <a:r>
              <a:t>• Loyalty Score Impact: Activating a subscription adds 30 loyalty points, raising scores from 24 to 54, positioning them for transition to Champion as tenure increases.</a:t>
            </a:r>
          </a:p>
        </p:txBody>
      </p:sp>
      <p:sp>
        <p:nvSpPr>
          <p:cNvPr id="7" name="TextBox 6"/>
          <p:cNvSpPr txBox="1"/>
          <p:nvPr/>
        </p:nvSpPr>
        <p:spPr>
          <a:xfrm>
            <a:off x="6217920" y="3657600"/>
            <a:ext cx="5120640" cy="2560320"/>
          </a:xfrm>
          <a:prstGeom prst="rect">
            <a:avLst/>
          </a:prstGeom>
          <a:noFill/>
        </p:spPr>
        <p:txBody>
          <a:bodyPr wrap="square">
            <a:spAutoFit/>
          </a:bodyPr>
          <a:lstStyle/>
          <a:p>
            <a:pPr>
              <a:defRPr sz="1300" b="1">
                <a:solidFill>
                  <a:srgbClr val="10B981"/>
                </a:solidFill>
              </a:defRPr>
            </a:pPr>
            <a:r>
              <a:t>UPSELL CONVERSION FUNNEL</a:t>
            </a:r>
          </a:p>
          <a:p>
            <a:br/>
            <a:r>
              <a:t>• Upsell Message: Offer a subscriber campaign: 'Lock in a 10% discount on every order with a subscription.'</a:t>
            </a:r>
            <a:br/>
            <a:r>
              <a:t>• Behavioral Alignment: Leverages their discount reliance to secure subscription signup.</a:t>
            </a:r>
            <a:br/>
            <a:r>
              <a:t>• Result: Secures recurring transaction volume and raises CLV before removing generic coupons.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The Retention Playbook: Customer Base Mapping</a:t>
            </a:r>
          </a:p>
        </p:txBody>
      </p:sp>
      <p:graphicFrame>
        <p:nvGraphicFramePr>
          <p:cNvPr id="4" name="Table 3"/>
          <p:cNvGraphicFramePr>
            <a:graphicFrameLocks noGrp="1"/>
          </p:cNvGraphicFramePr>
          <p:nvPr/>
        </p:nvGraphicFramePr>
        <p:xfrm>
          <a:off x="731520" y="1645920"/>
          <a:ext cx="10725912" cy="38404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640080">
                <a:tc>
                  <a:txBody>
                    <a:bodyPr/>
                    <a:lstStyle/>
                    <a:p>
                      <a:pPr>
                        <a:defRPr sz="1100" b="1">
                          <a:solidFill>
                            <a:srgbClr val="3B82F6"/>
                          </a:solidFill>
                          <a:latin typeface="Segoe UI"/>
                        </a:defRPr>
                      </a:pPr>
                      <a:r>
                        <a:t>PLAYBOOK SEGMENT</a:t>
                      </a:r>
                    </a:p>
                  </a:txBody>
                  <a:tcPr>
                    <a:solidFill>
                      <a:srgbClr val="1E293B"/>
                    </a:solidFill>
                  </a:tcPr>
                </a:tc>
                <a:tc>
                  <a:txBody>
                    <a:bodyPr/>
                    <a:lstStyle/>
                    <a:p>
                      <a:pPr>
                        <a:defRPr sz="1100" b="1">
                          <a:solidFill>
                            <a:srgbClr val="3B82F6"/>
                          </a:solidFill>
                          <a:latin typeface="Segoe UI"/>
                        </a:defRPr>
                      </a:pPr>
                      <a:r>
                        <a:t>VOLUME (COUNT)</a:t>
                      </a:r>
                    </a:p>
                  </a:txBody>
                  <a:tcPr>
                    <a:solidFill>
                      <a:srgbClr val="1E293B"/>
                    </a:solidFill>
                  </a:tcPr>
                </a:tc>
                <a:tc>
                  <a:txBody>
                    <a:bodyPr/>
                    <a:lstStyle/>
                    <a:p>
                      <a:pPr>
                        <a:defRPr sz="1100" b="1">
                          <a:solidFill>
                            <a:srgbClr val="3B82F6"/>
                          </a:solidFill>
                          <a:latin typeface="Segoe UI"/>
                        </a:defRPr>
                      </a:pPr>
                      <a:r>
                        <a:t>PRIMARY ACTION</a:t>
                      </a:r>
                    </a:p>
                  </a:txBody>
                  <a:tcPr>
                    <a:solidFill>
                      <a:srgbClr val="1E293B"/>
                    </a:solidFill>
                  </a:tcPr>
                </a:tc>
                <a:tc>
                  <a:txBody>
                    <a:bodyPr/>
                    <a:lstStyle/>
                    <a:p>
                      <a:pPr>
                        <a:defRPr sz="1100" b="1">
                          <a:solidFill>
                            <a:srgbClr val="3B82F6"/>
                          </a:solidFill>
                          <a:latin typeface="Segoe UI"/>
                        </a:defRPr>
                      </a:pPr>
                      <a:r>
                        <a:t>BUSINESS IMPACT</a:t>
                      </a:r>
                    </a:p>
                  </a:txBody>
                  <a:tcPr>
                    <a:solidFill>
                      <a:srgbClr val="1E293B"/>
                    </a:solidFill>
                  </a:tcPr>
                </a:tc>
                <a:tc>
                  <a:txBody>
                    <a:bodyPr/>
                    <a:lstStyle/>
                    <a:p>
                      <a:pPr>
                        <a:defRPr sz="1100" b="1">
                          <a:solidFill>
                            <a:srgbClr val="3B82F6"/>
                          </a:solidFill>
                          <a:latin typeface="Segoe UI"/>
                        </a:defRPr>
                      </a:pPr>
                      <a:r>
                        <a:t>STRATEGIC RATIONALE</a:t>
                      </a:r>
                    </a:p>
                  </a:txBody>
                  <a:tcPr>
                    <a:solidFill>
                      <a:srgbClr val="1E293B"/>
                    </a:solidFill>
                  </a:tcPr>
                </a:tc>
                <a:extLst>
                  <a:ext uri="{0D108BD9-81ED-4DB2-BD59-A6C34878D82A}">
                    <a16:rowId xmlns:a16="http://schemas.microsoft.com/office/drawing/2014/main" val="10000"/>
                  </a:ext>
                </a:extLst>
              </a:tr>
              <a:tr h="640080">
                <a:tc>
                  <a:txBody>
                    <a:bodyPr/>
                    <a:lstStyle/>
                    <a:p>
                      <a:pPr>
                        <a:defRPr sz="1100" b="1">
                          <a:solidFill>
                            <a:srgbClr val="F8FAFC"/>
                          </a:solidFill>
                          <a:latin typeface="Segoe UI"/>
                        </a:defRPr>
                      </a:pPr>
                      <a:r>
                        <a:t>1. Sunset Candidates</a:t>
                      </a:r>
                    </a:p>
                  </a:txBody>
                  <a:tcPr>
                    <a:solidFill>
                      <a:srgbClr val="1E293B"/>
                    </a:solidFill>
                  </a:tcPr>
                </a:tc>
                <a:tc>
                  <a:txBody>
                    <a:bodyPr/>
                    <a:lstStyle/>
                    <a:p>
                      <a:pPr>
                        <a:defRPr sz="1100">
                          <a:solidFill>
                            <a:srgbClr val="F8FAFC"/>
                          </a:solidFill>
                          <a:latin typeface="Segoe UI"/>
                        </a:defRPr>
                      </a:pPr>
                      <a:r>
                        <a:t>198 (5.1%)</a:t>
                      </a:r>
                    </a:p>
                  </a:txBody>
                  <a:tcPr>
                    <a:solidFill>
                      <a:srgbClr val="1E293B"/>
                    </a:solidFill>
                  </a:tcPr>
                </a:tc>
                <a:tc>
                  <a:txBody>
                    <a:bodyPr/>
                    <a:lstStyle/>
                    <a:p>
                      <a:pPr>
                        <a:defRPr sz="1100">
                          <a:solidFill>
                            <a:srgbClr val="F8FAFC"/>
                          </a:solidFill>
                          <a:latin typeface="Segoe UI"/>
                        </a:defRPr>
                      </a:pPr>
                      <a:r>
                        <a:t>Phased Promo Sunset</a:t>
                      </a:r>
                    </a:p>
                  </a:txBody>
                  <a:tcPr>
                    <a:solidFill>
                      <a:srgbClr val="1E293B"/>
                    </a:solidFill>
                  </a:tcPr>
                </a:tc>
                <a:tc>
                  <a:txBody>
                    <a:bodyPr/>
                    <a:lstStyle/>
                    <a:p>
                      <a:pPr>
                        <a:defRPr sz="1100" b="1">
                          <a:solidFill>
                            <a:srgbClr val="F59E0B"/>
                          </a:solidFill>
                          <a:latin typeface="Segoe UI"/>
                        </a:defRPr>
                      </a:pPr>
                      <a:r>
                        <a:t>HIGH (Margin Recovery)</a:t>
                      </a:r>
                    </a:p>
                  </a:txBody>
                  <a:tcPr>
                    <a:solidFill>
                      <a:srgbClr val="1E293B"/>
                    </a:solidFill>
                  </a:tcPr>
                </a:tc>
                <a:tc>
                  <a:txBody>
                    <a:bodyPr/>
                    <a:lstStyle/>
                    <a:p>
                      <a:pPr>
                        <a:defRPr sz="1100">
                          <a:solidFill>
                            <a:srgbClr val="F8FAFC"/>
                          </a:solidFill>
                          <a:latin typeface="Segoe UI"/>
                        </a:defRPr>
                      </a:pPr>
                      <a:r>
                        <a:t>High-tenure, promo-only. Swap discounts for logistics value.</a:t>
                      </a:r>
                    </a:p>
                  </a:txBody>
                  <a:tcPr>
                    <a:solidFill>
                      <a:srgbClr val="1E293B"/>
                    </a:solidFill>
                  </a:tcPr>
                </a:tc>
                <a:extLst>
                  <a:ext uri="{0D108BD9-81ED-4DB2-BD59-A6C34878D82A}">
                    <a16:rowId xmlns:a16="http://schemas.microsoft.com/office/drawing/2014/main" val="10001"/>
                  </a:ext>
                </a:extLst>
              </a:tr>
              <a:tr h="640080">
                <a:tc>
                  <a:txBody>
                    <a:bodyPr/>
                    <a:lstStyle/>
                    <a:p>
                      <a:pPr>
                        <a:defRPr sz="1100" b="1">
                          <a:solidFill>
                            <a:srgbClr val="F8FAFC"/>
                          </a:solidFill>
                          <a:latin typeface="Segoe UI"/>
                        </a:defRPr>
                      </a:pPr>
                      <a:r>
                        <a:t>2. Subscription Targets</a:t>
                      </a:r>
                    </a:p>
                  </a:txBody>
                  <a:tcPr>
                    <a:solidFill>
                      <a:srgbClr val="1E293B"/>
                    </a:solidFill>
                  </a:tcPr>
                </a:tc>
                <a:tc>
                  <a:txBody>
                    <a:bodyPr/>
                    <a:lstStyle/>
                    <a:p>
                      <a:pPr>
                        <a:defRPr sz="1100">
                          <a:solidFill>
                            <a:srgbClr val="F8FAFC"/>
                          </a:solidFill>
                          <a:latin typeface="Segoe UI"/>
                        </a:defRPr>
                      </a:pPr>
                      <a:r>
                        <a:t>246 (6.3%)</a:t>
                      </a:r>
                    </a:p>
                  </a:txBody>
                  <a:tcPr>
                    <a:solidFill>
                      <a:srgbClr val="1E293B"/>
                    </a:solidFill>
                  </a:tcPr>
                </a:tc>
                <a:tc>
                  <a:txBody>
                    <a:bodyPr/>
                    <a:lstStyle/>
                    <a:p>
                      <a:pPr>
                        <a:defRPr sz="1100">
                          <a:solidFill>
                            <a:srgbClr val="F8FAFC"/>
                          </a:solidFill>
                          <a:latin typeface="Segoe UI"/>
                        </a:defRPr>
                      </a:pPr>
                      <a:r>
                        <a:t>Subscription Upsell</a:t>
                      </a:r>
                    </a:p>
                  </a:txBody>
                  <a:tcPr>
                    <a:solidFill>
                      <a:srgbClr val="1E293B"/>
                    </a:solidFill>
                  </a:tcPr>
                </a:tc>
                <a:tc>
                  <a:txBody>
                    <a:bodyPr/>
                    <a:lstStyle/>
                    <a:p>
                      <a:pPr>
                        <a:defRPr sz="1100" b="1">
                          <a:solidFill>
                            <a:srgbClr val="F8FAFC"/>
                          </a:solidFill>
                          <a:latin typeface="Segoe UI"/>
                        </a:defRPr>
                      </a:pPr>
                      <a:r>
                        <a:t>MEDIUM (Lock In Vol)</a:t>
                      </a:r>
                    </a:p>
                  </a:txBody>
                  <a:tcPr>
                    <a:solidFill>
                      <a:srgbClr val="1E293B"/>
                    </a:solidFill>
                  </a:tcPr>
                </a:tc>
                <a:tc>
                  <a:txBody>
                    <a:bodyPr/>
                    <a:lstStyle/>
                    <a:p>
                      <a:pPr>
                        <a:defRPr sz="1100">
                          <a:solidFill>
                            <a:srgbClr val="F8FAFC"/>
                          </a:solidFill>
                          <a:latin typeface="Segoe UI"/>
                        </a:defRPr>
                      </a:pPr>
                      <a:r>
                        <a:t>Mid-tenure, promo-only. upsell sub before discount changes.</a:t>
                      </a:r>
                    </a:p>
                  </a:txBody>
                  <a:tcPr>
                    <a:solidFill>
                      <a:srgbClr val="1E293B"/>
                    </a:solidFill>
                  </a:tcPr>
                </a:tc>
                <a:extLst>
                  <a:ext uri="{0D108BD9-81ED-4DB2-BD59-A6C34878D82A}">
                    <a16:rowId xmlns:a16="http://schemas.microsoft.com/office/drawing/2014/main" val="10002"/>
                  </a:ext>
                </a:extLst>
              </a:tr>
              <a:tr h="640080">
                <a:tc>
                  <a:txBody>
                    <a:bodyPr/>
                    <a:lstStyle/>
                    <a:p>
                      <a:pPr>
                        <a:defRPr sz="1100" b="1">
                          <a:solidFill>
                            <a:srgbClr val="F8FAFC"/>
                          </a:solidFill>
                          <a:latin typeface="Segoe UI"/>
                        </a:defRPr>
                      </a:pPr>
                      <a:r>
                        <a:t>3. Acquisition Monitor</a:t>
                      </a:r>
                    </a:p>
                  </a:txBody>
                  <a:tcPr>
                    <a:solidFill>
                      <a:srgbClr val="1E293B"/>
                    </a:solidFill>
                  </a:tcPr>
                </a:tc>
                <a:tc>
                  <a:txBody>
                    <a:bodyPr/>
                    <a:lstStyle/>
                    <a:p>
                      <a:pPr>
                        <a:defRPr sz="1100">
                          <a:solidFill>
                            <a:srgbClr val="F8FAFC"/>
                          </a:solidFill>
                          <a:latin typeface="Segoe UI"/>
                        </a:defRPr>
                      </a:pPr>
                      <a:r>
                        <a:t>180 (4.6%)</a:t>
                      </a:r>
                    </a:p>
                  </a:txBody>
                  <a:tcPr>
                    <a:solidFill>
                      <a:srgbClr val="1E293B"/>
                    </a:solidFill>
                  </a:tcPr>
                </a:tc>
                <a:tc>
                  <a:txBody>
                    <a:bodyPr/>
                    <a:lstStyle/>
                    <a:p>
                      <a:pPr>
                        <a:defRPr sz="1100">
                          <a:solidFill>
                            <a:srgbClr val="F8FAFC"/>
                          </a:solidFill>
                          <a:latin typeface="Segoe UI"/>
                        </a:defRPr>
                      </a:pPr>
                      <a:r>
                        <a:t>Monitor &amp; Nurture</a:t>
                      </a:r>
                    </a:p>
                  </a:txBody>
                  <a:tcPr>
                    <a:solidFill>
                      <a:srgbClr val="1E293B"/>
                    </a:solidFill>
                  </a:tcPr>
                </a:tc>
                <a:tc>
                  <a:txBody>
                    <a:bodyPr/>
                    <a:lstStyle/>
                    <a:p>
                      <a:pPr>
                        <a:defRPr sz="1100" b="1">
                          <a:solidFill>
                            <a:srgbClr val="F8FAFC"/>
                          </a:solidFill>
                          <a:latin typeface="Segoe UI"/>
                        </a:defRPr>
                      </a:pPr>
                      <a:r>
                        <a:t>LOW (Onboard Safely)</a:t>
                      </a:r>
                    </a:p>
                  </a:txBody>
                  <a:tcPr>
                    <a:solidFill>
                      <a:srgbClr val="1E293B"/>
                    </a:solidFill>
                  </a:tcPr>
                </a:tc>
                <a:tc>
                  <a:txBody>
                    <a:bodyPr/>
                    <a:lstStyle/>
                    <a:p>
                      <a:pPr>
                        <a:defRPr sz="1100">
                          <a:solidFill>
                            <a:srgbClr val="F8FAFC"/>
                          </a:solidFill>
                          <a:latin typeface="Segoe UI"/>
                        </a:defRPr>
                      </a:pPr>
                      <a:r>
                        <a:t>Low-tenure, promo-only. Monitor to avoid early friction.</a:t>
                      </a:r>
                    </a:p>
                  </a:txBody>
                  <a:tcPr>
                    <a:solidFill>
                      <a:srgbClr val="1E293B"/>
                    </a:solidFill>
                  </a:tcPr>
                </a:tc>
                <a:extLst>
                  <a:ext uri="{0D108BD9-81ED-4DB2-BD59-A6C34878D82A}">
                    <a16:rowId xmlns:a16="http://schemas.microsoft.com/office/drawing/2014/main" val="10003"/>
                  </a:ext>
                </a:extLst>
              </a:tr>
              <a:tr h="640080">
                <a:tc>
                  <a:txBody>
                    <a:bodyPr/>
                    <a:lstStyle/>
                    <a:p>
                      <a:pPr>
                        <a:defRPr sz="1100" b="1">
                          <a:solidFill>
                            <a:srgbClr val="F8FAFC"/>
                          </a:solidFill>
                          <a:latin typeface="Segoe UI"/>
                        </a:defRPr>
                      </a:pPr>
                      <a:r>
                        <a:t>4. Active Subscribers</a:t>
                      </a:r>
                    </a:p>
                  </a:txBody>
                  <a:tcPr>
                    <a:solidFill>
                      <a:srgbClr val="1E293B"/>
                    </a:solidFill>
                  </a:tcPr>
                </a:tc>
                <a:tc>
                  <a:txBody>
                    <a:bodyPr/>
                    <a:lstStyle/>
                    <a:p>
                      <a:pPr>
                        <a:defRPr sz="1100">
                          <a:solidFill>
                            <a:srgbClr val="F8FAFC"/>
                          </a:solidFill>
                          <a:latin typeface="Segoe UI"/>
                        </a:defRPr>
                      </a:pPr>
                      <a:r>
                        <a:t>1,053 (27.0%)</a:t>
                      </a:r>
                    </a:p>
                  </a:txBody>
                  <a:tcPr>
                    <a:solidFill>
                      <a:srgbClr val="1E293B"/>
                    </a:solidFill>
                  </a:tcPr>
                </a:tc>
                <a:tc>
                  <a:txBody>
                    <a:bodyPr/>
                    <a:lstStyle/>
                    <a:p>
                      <a:pPr>
                        <a:defRPr sz="1100">
                          <a:solidFill>
                            <a:srgbClr val="F8FAFC"/>
                          </a:solidFill>
                          <a:latin typeface="Segoe UI"/>
                        </a:defRPr>
                      </a:pPr>
                      <a:r>
                        <a:t>Pivot to Logistics Value</a:t>
                      </a:r>
                    </a:p>
                  </a:txBody>
                  <a:tcPr>
                    <a:solidFill>
                      <a:srgbClr val="1E293B"/>
                    </a:solidFill>
                  </a:tcPr>
                </a:tc>
                <a:tc>
                  <a:txBody>
                    <a:bodyPr/>
                    <a:lstStyle/>
                    <a:p>
                      <a:pPr>
                        <a:defRPr sz="1100" b="1">
                          <a:solidFill>
                            <a:srgbClr val="10B981"/>
                          </a:solidFill>
                          <a:latin typeface="Segoe UI"/>
                        </a:defRPr>
                      </a:pPr>
                      <a:r>
                        <a:t>VERY HIGH (Retain Vol)</a:t>
                      </a:r>
                    </a:p>
                  </a:txBody>
                  <a:tcPr>
                    <a:solidFill>
                      <a:srgbClr val="1E293B"/>
                    </a:solidFill>
                  </a:tcPr>
                </a:tc>
                <a:tc>
                  <a:txBody>
                    <a:bodyPr/>
                    <a:lstStyle/>
                    <a:p>
                      <a:pPr>
                        <a:defRPr sz="1100">
                          <a:solidFill>
                            <a:srgbClr val="F8FAFC"/>
                          </a:solidFill>
                          <a:latin typeface="Segoe UI"/>
                        </a:defRPr>
                      </a:pPr>
                      <a:r>
                        <a:t>Subscribed promo buyers. Pivot to express shipping rewards.</a:t>
                      </a:r>
                    </a:p>
                  </a:txBody>
                  <a:tcPr>
                    <a:solidFill>
                      <a:srgbClr val="1E293B"/>
                    </a:solidFill>
                  </a:tcPr>
                </a:tc>
                <a:extLst>
                  <a:ext uri="{0D108BD9-81ED-4DB2-BD59-A6C34878D82A}">
                    <a16:rowId xmlns:a16="http://schemas.microsoft.com/office/drawing/2014/main" val="10004"/>
                  </a:ext>
                </a:extLst>
              </a:tr>
              <a:tr h="640080">
                <a:tc>
                  <a:txBody>
                    <a:bodyPr/>
                    <a:lstStyle/>
                    <a:p>
                      <a:pPr>
                        <a:defRPr sz="1100" b="1">
                          <a:solidFill>
                            <a:srgbClr val="F8FAFC"/>
                          </a:solidFill>
                          <a:latin typeface="Segoe UI"/>
                        </a:defRPr>
                      </a:pPr>
                      <a:r>
                        <a:t>5. Organic Customers</a:t>
                      </a:r>
                    </a:p>
                  </a:txBody>
                  <a:tcPr>
                    <a:solidFill>
                      <a:srgbClr val="1E293B"/>
                    </a:solidFill>
                  </a:tcPr>
                </a:tc>
                <a:tc>
                  <a:txBody>
                    <a:bodyPr/>
                    <a:lstStyle/>
                    <a:p>
                      <a:pPr>
                        <a:defRPr sz="1100">
                          <a:solidFill>
                            <a:srgbClr val="F8FAFC"/>
                          </a:solidFill>
                          <a:latin typeface="Segoe UI"/>
                        </a:defRPr>
                      </a:pPr>
                      <a:r>
                        <a:t>2,223 (57.0%)</a:t>
                      </a:r>
                    </a:p>
                  </a:txBody>
                  <a:tcPr>
                    <a:solidFill>
                      <a:srgbClr val="1E293B"/>
                    </a:solidFill>
                  </a:tcPr>
                </a:tc>
                <a:tc>
                  <a:txBody>
                    <a:bodyPr/>
                    <a:lstStyle/>
                    <a:p>
                      <a:pPr>
                        <a:defRPr sz="1100" b="1">
                          <a:solidFill>
                            <a:srgbClr val="F43F5E"/>
                          </a:solidFill>
                          <a:latin typeface="Segoe UI"/>
                        </a:defRPr>
                      </a:pPr>
                      <a:r>
                        <a:t>PROTECT MARGINS</a:t>
                      </a:r>
                    </a:p>
                  </a:txBody>
                  <a:tcPr>
                    <a:solidFill>
                      <a:srgbClr val="1E293B"/>
                    </a:solidFill>
                  </a:tcPr>
                </a:tc>
                <a:tc>
                  <a:txBody>
                    <a:bodyPr/>
                    <a:lstStyle/>
                    <a:p>
                      <a:pPr>
                        <a:defRPr sz="1100" b="1">
                          <a:solidFill>
                            <a:srgbClr val="F43F5E"/>
                          </a:solidFill>
                          <a:latin typeface="Segoe UI"/>
                        </a:defRPr>
                      </a:pPr>
                      <a:r>
                        <a:t>CRITICAL (Zero Promos)</a:t>
                      </a:r>
                    </a:p>
                  </a:txBody>
                  <a:tcPr>
                    <a:solidFill>
                      <a:srgbClr val="1E293B"/>
                    </a:solidFill>
                  </a:tcPr>
                </a:tc>
                <a:tc>
                  <a:txBody>
                    <a:bodyPr/>
                    <a:lstStyle/>
                    <a:p>
                      <a:pPr>
                        <a:defRPr sz="1100">
                          <a:solidFill>
                            <a:srgbClr val="F8FAFC"/>
                          </a:solidFill>
                          <a:latin typeface="Segoe UI"/>
                        </a:defRPr>
                      </a:pPr>
                      <a:r>
                        <a:t>Full-price organic buyers. DO NOT introduce promotions.</a:t>
                      </a:r>
                    </a:p>
                  </a:txBody>
                  <a:tcPr>
                    <a:solidFill>
                      <a:srgbClr val="1E293B"/>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5577840"/>
            <a:ext cx="10725912" cy="731520"/>
          </a:xfrm>
          <a:prstGeom prst="rect">
            <a:avLst/>
          </a:prstGeom>
          <a:noFill/>
        </p:spPr>
        <p:txBody>
          <a:bodyPr wrap="square">
            <a:spAutoFit/>
          </a:bodyPr>
          <a:lstStyle/>
          <a:p>
            <a:pPr>
              <a:defRPr sz="1300" b="1">
                <a:solidFill>
                  <a:srgbClr val="F43F5E"/>
                </a:solidFill>
                <a:latin typeface="Segoe UI"/>
              </a:defRPr>
            </a:pPr>
            <a:r>
              <a:t>GOLDEN RULE: Do not introduce promotions to Organic Customers (Segment 5) to protect full margins.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3B82F6"/>
                </a:solidFill>
                <a:latin typeface="Segoe UI"/>
              </a:defRPr>
            </a:pPr>
            <a:r>
              <a:t>STRATEGIC DIAGNOSTIC</a:t>
            </a:r>
          </a:p>
        </p:txBody>
      </p:sp>
      <p:sp>
        <p:nvSpPr>
          <p:cNvPr id="3" name="TextBox 2"/>
          <p:cNvSpPr txBox="1"/>
          <p:nvPr/>
        </p:nvSpPr>
        <p:spPr>
          <a:xfrm>
            <a:off x="731520" y="640080"/>
            <a:ext cx="10728655" cy="731520"/>
          </a:xfrm>
          <a:prstGeom prst="rect">
            <a:avLst/>
          </a:prstGeom>
          <a:noFill/>
        </p:spPr>
        <p:txBody>
          <a:bodyPr wrap="square">
            <a:spAutoFit/>
          </a:bodyPr>
          <a:lstStyle/>
          <a:p>
            <a:pPr>
              <a:defRPr sz="2800" b="1">
                <a:solidFill>
                  <a:srgbClr val="F8FAFC"/>
                </a:solidFill>
                <a:latin typeface="Segoe UI"/>
              </a:defRPr>
            </a:pPr>
            <a:r>
              <a:t>Execution Roadmap: Phased Integration Timeline</a:t>
            </a:r>
          </a:p>
        </p:txBody>
      </p:sp>
      <p:sp>
        <p:nvSpPr>
          <p:cNvPr id="4" name="Rectangle 3"/>
          <p:cNvSpPr/>
          <p:nvPr/>
        </p:nvSpPr>
        <p:spPr>
          <a:xfrm>
            <a:off x="731520" y="1645920"/>
            <a:ext cx="2468880" cy="4114800"/>
          </a:xfrm>
          <a:prstGeom prst="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37360"/>
            <a:ext cx="2286000" cy="3931920"/>
          </a:xfrm>
          <a:prstGeom prst="rect">
            <a:avLst/>
          </a:prstGeom>
          <a:noFill/>
        </p:spPr>
        <p:txBody>
          <a:bodyPr wrap="square">
            <a:spAutoFit/>
          </a:bodyPr>
          <a:lstStyle/>
          <a:p>
            <a:pPr>
              <a:defRPr sz="1300" b="1">
                <a:solidFill>
                  <a:srgbClr val="94A3B8"/>
                </a:solidFill>
              </a:defRPr>
            </a:pPr>
            <a:r>
              <a:t>PHASE 1</a:t>
            </a:r>
          </a:p>
          <a:p>
            <a:br/>
            <a:r>
              <a:t>FEATURE ENGINEERING</a:t>
            </a:r>
            <a:br/>
            <a:br/>
            <a:r>
              <a:t>• Status: COMPLETED</a:t>
            </a:r>
            <a:br/>
            <a:br/>
            <a:r>
              <a:t>• Tasks: Cleaned raw transaction snapshots, normalized tenure, and computed multi-signal scores (Framework B).</a:t>
            </a:r>
          </a:p>
        </p:txBody>
      </p:sp>
      <p:sp>
        <p:nvSpPr>
          <p:cNvPr id="6" name="Rectangle 5"/>
          <p:cNvSpPr/>
          <p:nvPr/>
        </p:nvSpPr>
        <p:spPr>
          <a:xfrm>
            <a:off x="3383280" y="1645920"/>
            <a:ext cx="2468880" cy="4114800"/>
          </a:xfrm>
          <a:prstGeom prst="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0" y="1737360"/>
            <a:ext cx="2286000" cy="3931920"/>
          </a:xfrm>
          <a:prstGeom prst="rect">
            <a:avLst/>
          </a:prstGeom>
          <a:noFill/>
        </p:spPr>
        <p:txBody>
          <a:bodyPr wrap="square">
            <a:spAutoFit/>
          </a:bodyPr>
          <a:lstStyle/>
          <a:p>
            <a:pPr>
              <a:defRPr sz="1300" b="1">
                <a:solidFill>
                  <a:srgbClr val="94A3B8"/>
                </a:solidFill>
              </a:defRPr>
            </a:pPr>
            <a:r>
              <a:t>PHASE 2</a:t>
            </a:r>
          </a:p>
          <a:p>
            <a:br/>
            <a:r>
              <a:t>SQL ANALYTICS LAYER</a:t>
            </a:r>
            <a:br/>
            <a:br/>
            <a:r>
              <a:t>• Status: COMPLETED</a:t>
            </a:r>
            <a:br/>
            <a:br/>
            <a:r>
              <a:t>• Tasks: Created view v_customer_base and wrote standalone diagnostic scripts (Q1-Q5) verified via SQLite.</a:t>
            </a:r>
          </a:p>
        </p:txBody>
      </p:sp>
      <p:sp>
        <p:nvSpPr>
          <p:cNvPr id="8" name="Rectangle 7"/>
          <p:cNvSpPr/>
          <p:nvPr/>
        </p:nvSpPr>
        <p:spPr>
          <a:xfrm>
            <a:off x="6035040" y="1645920"/>
            <a:ext cx="2468880" cy="411480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1737360"/>
            <a:ext cx="2286000" cy="3931920"/>
          </a:xfrm>
          <a:prstGeom prst="rect">
            <a:avLst/>
          </a:prstGeom>
          <a:noFill/>
        </p:spPr>
        <p:txBody>
          <a:bodyPr wrap="square">
            <a:spAutoFit/>
          </a:bodyPr>
          <a:lstStyle/>
          <a:p>
            <a:pPr>
              <a:defRPr sz="1300" b="1">
                <a:solidFill>
                  <a:srgbClr val="3B82F6"/>
                </a:solidFill>
              </a:defRPr>
            </a:pPr>
            <a:r>
              <a:t>PHASE 3</a:t>
            </a:r>
          </a:p>
          <a:p>
            <a:br/>
            <a:r>
              <a:t>POWER BI REPORTING</a:t>
            </a:r>
            <a:br/>
            <a:br/>
            <a:r>
              <a:t>• Status: COMPLETED</a:t>
            </a:r>
            <a:br/>
            <a:br/>
            <a:r>
              <a:t>• Tasks: Developed star schema and dashboards in theme.json Obsidian Dark Slate with gender bias cohort filters.</a:t>
            </a:r>
          </a:p>
        </p:txBody>
      </p:sp>
      <p:sp>
        <p:nvSpPr>
          <p:cNvPr id="10" name="Rectangle 9"/>
          <p:cNvSpPr/>
          <p:nvPr/>
        </p:nvSpPr>
        <p:spPr>
          <a:xfrm>
            <a:off x="8686800" y="1645920"/>
            <a:ext cx="2468880" cy="4114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0" y="1737360"/>
            <a:ext cx="2286000" cy="3931920"/>
          </a:xfrm>
          <a:prstGeom prst="rect">
            <a:avLst/>
          </a:prstGeom>
          <a:noFill/>
        </p:spPr>
        <p:txBody>
          <a:bodyPr wrap="square">
            <a:spAutoFit/>
          </a:bodyPr>
          <a:lstStyle/>
          <a:p>
            <a:pPr>
              <a:defRPr sz="1300" b="1">
                <a:solidFill>
                  <a:srgbClr val="10B981"/>
                </a:solidFill>
              </a:defRPr>
            </a:pPr>
            <a:r>
              <a:t>PHASE 4</a:t>
            </a:r>
          </a:p>
          <a:p>
            <a:br/>
            <a:r>
              <a:t>ROLLOUT &amp; A/B TEST</a:t>
            </a:r>
            <a:br/>
            <a:br/>
            <a:r>
              <a:t>• Status: NEXT (90 Days)</a:t>
            </a:r>
            <a:br/>
            <a:br/>
            <a:r>
              <a:t>• Tasks: Initiate 60-day A/B test in Missouri &amp; Nevada (Sunset pool vs. control). Roll out national sunset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2576</Words>
  <Application>Microsoft Macintosh PowerPoint</Application>
  <PresentationFormat>Widescreen</PresentationFormat>
  <Paragraphs>133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 Singh Raghuvanshi</cp:lastModifiedBy>
  <cp:revision>1</cp:revision>
  <dcterms:created xsi:type="dcterms:W3CDTF">2013-01-27T09:14:16Z</dcterms:created>
  <dcterms:modified xsi:type="dcterms:W3CDTF">2026-06-14T11:21:01Z</dcterms:modified>
  <cp:category/>
</cp:coreProperties>
</file>